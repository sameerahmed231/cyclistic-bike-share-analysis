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78" y="-17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c7616c4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46c7616c4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Title">
  <p:cSld name="TITLE_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Footer - Title &amp; Body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5" name="Google Shape;15;p3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  <p:pic>
        <p:nvPicPr>
          <p:cNvPr id="17" name="Google Shape;17;p3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Footer - Title &amp; Body">
  <p:cSld name="CUSTOM_3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pic>
        <p:nvPicPr>
          <p:cNvPr id="25" name="Google Shape;25;p4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Footer - Title &amp; Body">
  <p:cSld name="CUSTOM_3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 flipH="1">
            <a:off x="-10838" y="9147747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pic>
        <p:nvPicPr>
          <p:cNvPr id="33" name="Google Shape;33;p5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Footer - Title &amp; Body">
  <p:cSld name="CUSTOM_3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68914" y="9030267"/>
            <a:ext cx="7725331" cy="1072402"/>
          </a:xfrm>
          <a:custGeom>
            <a:avLst/>
            <a:gdLst/>
            <a:ahLst/>
            <a:cxnLst/>
            <a:rect l="l" t="t" r="r" b="b"/>
            <a:pathLst>
              <a:path w="363545" h="21935" extrusionOk="0">
                <a:moveTo>
                  <a:pt x="363545" y="21935"/>
                </a:moveTo>
                <a:lnTo>
                  <a:pt x="363036" y="0"/>
                </a:lnTo>
                <a:lnTo>
                  <a:pt x="0" y="12743"/>
                </a:lnTo>
                <a:lnTo>
                  <a:pt x="869" y="20673"/>
                </a:lnTo>
                <a:close/>
              </a:path>
            </a:pathLst>
          </a:custGeom>
          <a:solidFill>
            <a:srgbClr val="349351"/>
          </a:solid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</p:sp>
      <p:pic>
        <p:nvPicPr>
          <p:cNvPr id="39" name="Google Shape;39;p6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Footer - Title &amp; Body">
  <p:cSld name="CUSTOM_3_1_1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44" name="Google Shape;44;p7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pic>
        <p:nvPicPr>
          <p:cNvPr id="45" name="Google Shape;45;p7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49791" y="2553711"/>
            <a:ext cx="4458300" cy="50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 Footer">
  <p:cSld name="TITLE_2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49791" y="346769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" name="Google Shape;53;p8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54" name="Google Shape;54;p8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Google Shape;55;p8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d Footer">
  <p:cSld name="TITLE_2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 flipH="1">
            <a:off x="-16320" y="9030267"/>
            <a:ext cx="7810565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/>
          <p:nvPr/>
        </p:nvSpPr>
        <p:spPr>
          <a:xfrm flipH="1">
            <a:off x="-18495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sp>
        <p:nvSpPr>
          <p:cNvPr id="60" name="Google Shape;60;p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9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Yellow Footer">
  <p:cSld name="TITLE_2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/>
          <p:nvPr/>
        </p:nvSpPr>
        <p:spPr>
          <a:xfrm flipH="1">
            <a:off x="22273" y="9030267"/>
            <a:ext cx="7771972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65" name="Google Shape;65;p10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sp>
        <p:nvSpPr>
          <p:cNvPr id="66" name="Google Shape;66;p1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0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een Footer">
  <p:cSld name="TITLE_2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/>
          <p:nvPr/>
        </p:nvSpPr>
        <p:spPr>
          <a:xfrm flipH="1">
            <a:off x="60867" y="9030267"/>
            <a:ext cx="7733378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349351"/>
          </a:solidFill>
          <a:ln>
            <a:noFill/>
          </a:ln>
        </p:spPr>
      </p:sp>
      <p:sp>
        <p:nvSpPr>
          <p:cNvPr id="71" name="Google Shape;71;p11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34A853"/>
          </a:solidFill>
          <a:ln>
            <a:noFill/>
          </a:ln>
        </p:spPr>
      </p:sp>
      <p:sp>
        <p:nvSpPr>
          <p:cNvPr id="72" name="Google Shape;72;p11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11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ay Footer">
  <p:cSld name="TITLE_2_3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 flipH="1">
            <a:off x="54435" y="9030267"/>
            <a:ext cx="7739810" cy="1072402"/>
          </a:xfrm>
          <a:custGeom>
            <a:avLst/>
            <a:gdLst/>
            <a:ahLst/>
            <a:cxnLst/>
            <a:rect l="l" t="t" r="r" b="b"/>
            <a:pathLst>
              <a:path w="367556" h="19840" extrusionOk="0">
                <a:moveTo>
                  <a:pt x="0" y="19840"/>
                </a:moveTo>
                <a:lnTo>
                  <a:pt x="515" y="0"/>
                </a:lnTo>
                <a:lnTo>
                  <a:pt x="367556" y="11270"/>
                </a:lnTo>
                <a:lnTo>
                  <a:pt x="367044" y="1869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76" name="Google Shape;76;p12"/>
          <p:cNvSpPr/>
          <p:nvPr/>
        </p:nvSpPr>
        <p:spPr>
          <a:xfrm flipH="1">
            <a:off x="-10838" y="9165362"/>
            <a:ext cx="4054501" cy="926906"/>
          </a:xfrm>
          <a:custGeom>
            <a:avLst/>
            <a:gdLst/>
            <a:ahLst/>
            <a:cxnLst/>
            <a:rect l="l" t="t" r="r" b="b"/>
            <a:pathLst>
              <a:path w="366343" h="18959" extrusionOk="0">
                <a:moveTo>
                  <a:pt x="0" y="18521"/>
                </a:moveTo>
                <a:lnTo>
                  <a:pt x="366343" y="0"/>
                </a:lnTo>
                <a:lnTo>
                  <a:pt x="366052" y="18959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5622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2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3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 &amp; 1 Text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 &amp; 3 Text">
  <p:cSld name="CUSTOM_4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">
  <p:cSld name="CUSTOM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 &amp; 1 Text">
  <p:cSld name="CUSTOM_1_2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 &amp; 3 Text">
  <p:cSld name="CUSTOM_1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">
  <p:cSld name="CUSTOM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 &amp; 1 Text">
  <p:cSld name="CUSTOM_1_1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 &amp; 3 Text">
  <p:cSld name="CUSTOM_1_1_2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en">
  <p:cSld name="CUSTOM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en &amp; 1 Text">
  <p:cSld name="CUSTOM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en &amp; 3 Text">
  <p:cSld name="CUSTOM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153127" y="3012240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2"/>
          </p:nvPr>
        </p:nvSpPr>
        <p:spPr>
          <a:xfrm>
            <a:off x="160799" y="477375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3"/>
          </p:nvPr>
        </p:nvSpPr>
        <p:spPr>
          <a:xfrm>
            <a:off x="168449" y="6746716"/>
            <a:ext cx="28176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91" y="9468360"/>
            <a:ext cx="457540" cy="14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Blue">
  <p:cSld name="SECTION_HEADER_2">
    <p:bg>
      <p:bgPr>
        <a:solidFill>
          <a:srgbClr val="2196F3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77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6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4069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64" name="Google Shape;164;p26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Red">
  <p:cSld name="SECTION_HEADER_1_3">
    <p:bg>
      <p:bgPr>
        <a:solidFill>
          <a:srgbClr val="EA433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6744495" y="9143933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7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7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27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Yellow">
  <p:cSld name="SECTION_HEADER_1_1_3">
    <p:bg>
      <p:bgPr>
        <a:solidFill>
          <a:srgbClr val="F4B4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FFCC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8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BF9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28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Green">
  <p:cSld name="CUSTOM_2">
    <p:bg>
      <p:bgPr>
        <a:solidFill>
          <a:srgbClr val="34A85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9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3493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84" name="Google Shape;184;p29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Gray">
  <p:cSld name="SECTION_HEADER_1_1_1_1_2">
    <p:bg>
      <p:bgPr>
        <a:solidFill>
          <a:srgbClr val="999999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/>
          <p:nvPr/>
        </p:nvSpPr>
        <p:spPr>
          <a:xfrm flipH="1">
            <a:off x="2932843" y="1501769"/>
            <a:ext cx="4839600" cy="85566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0"/>
          <p:cNvSpPr/>
          <p:nvPr/>
        </p:nvSpPr>
        <p:spPr>
          <a:xfrm rot="10800000">
            <a:off x="2774143" y="93"/>
            <a:ext cx="4998300" cy="58566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149791" y="1451560"/>
            <a:ext cx="6988800" cy="19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0" descr="Google_Logo_2015_g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786" y="9468339"/>
            <a:ext cx="472111" cy="14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Line Title with Bullets">
  <p:cSld name="One Line Title with Bullet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355405" y="1105984"/>
            <a:ext cx="6995100" cy="10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rgbClr val="DA4B2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314350" y="2503424"/>
            <a:ext cx="6995100" cy="55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2"/>
          </p:nvPr>
        </p:nvSpPr>
        <p:spPr>
          <a:xfrm>
            <a:off x="287579" y="1249923840"/>
            <a:ext cx="5429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800" b="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3"/>
          </p:nvPr>
        </p:nvSpPr>
        <p:spPr>
          <a:xfrm>
            <a:off x="314632" y="9150883"/>
            <a:ext cx="5429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800" b="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tx">
  <p:cSld name="TITLE_AND_BOD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>
          <a:xfrm>
            <a:off x="388620" y="402801"/>
            <a:ext cx="6995100" cy="16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body" idx="1"/>
          </p:nvPr>
        </p:nvSpPr>
        <p:spPr>
          <a:xfrm>
            <a:off x="388620" y="2346964"/>
            <a:ext cx="6995100" cy="6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 1">
  <p:cSld name="Half Color Blu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3749924" y="0"/>
            <a:ext cx="4022400" cy="1005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142035" y="1021533"/>
            <a:ext cx="33090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791" y="9468360"/>
            <a:ext cx="457500" cy="3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Red Footer - Title &amp; Body">
  <p:cSld name="2_Red Footer - Title &amp; Bod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36"/>
          <p:cNvGrpSpPr/>
          <p:nvPr/>
        </p:nvGrpSpPr>
        <p:grpSpPr>
          <a:xfrm>
            <a:off x="21" y="9944813"/>
            <a:ext cx="7772347" cy="113820"/>
            <a:chOff x="25" y="5085300"/>
            <a:chExt cx="9143938" cy="58202"/>
          </a:xfrm>
        </p:grpSpPr>
        <p:sp>
          <p:nvSpPr>
            <p:cNvPr id="209" name="Google Shape;209;p36"/>
            <p:cNvSpPr/>
            <p:nvPr/>
          </p:nvSpPr>
          <p:spPr>
            <a:xfrm>
              <a:off x="25" y="5085301"/>
              <a:ext cx="1396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1392867" y="5085301"/>
              <a:ext cx="1719300" cy="5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3112175" y="5085302"/>
              <a:ext cx="2412000" cy="58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6"/>
            <p:cNvSpPr/>
            <p:nvPr/>
          </p:nvSpPr>
          <p:spPr>
            <a:xfrm>
              <a:off x="5523863" y="5085300"/>
              <a:ext cx="3620100" cy="5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3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6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6" name="Google Shape;216;p36"/>
          <p:cNvSpPr txBox="1">
            <a:spLocks noGrp="1"/>
          </p:cNvSpPr>
          <p:nvPr>
            <p:ph type="sldNum" idx="12"/>
          </p:nvPr>
        </p:nvSpPr>
        <p:spPr>
          <a:xfrm>
            <a:off x="7245010" y="9182552"/>
            <a:ext cx="4665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7"/>
          <p:cNvGrpSpPr/>
          <p:nvPr/>
        </p:nvGrpSpPr>
        <p:grpSpPr>
          <a:xfrm>
            <a:off x="21" y="9944813"/>
            <a:ext cx="7772347" cy="113818"/>
            <a:chOff x="25" y="5085300"/>
            <a:chExt cx="9143937" cy="58201"/>
          </a:xfrm>
        </p:grpSpPr>
        <p:sp>
          <p:nvSpPr>
            <p:cNvPr id="219" name="Google Shape;219;p37"/>
            <p:cNvSpPr/>
            <p:nvPr/>
          </p:nvSpPr>
          <p:spPr>
            <a:xfrm>
              <a:off x="25" y="5085301"/>
              <a:ext cx="1396200" cy="5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1392866" y="5085301"/>
              <a:ext cx="1719300" cy="5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7"/>
            <p:cNvSpPr/>
            <p:nvPr/>
          </p:nvSpPr>
          <p:spPr>
            <a:xfrm>
              <a:off x="3112175" y="5085301"/>
              <a:ext cx="2412000" cy="58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5523862" y="5085300"/>
              <a:ext cx="3620100" cy="5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4" name="Google Shape;224;p37"/>
          <p:cNvSpPr txBox="1">
            <a:spLocks noGrp="1"/>
          </p:cNvSpPr>
          <p:nvPr>
            <p:ph type="sldNum" idx="12"/>
          </p:nvPr>
        </p:nvSpPr>
        <p:spPr>
          <a:xfrm>
            <a:off x="7245010" y="9182552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1115" y="1319560"/>
            <a:ext cx="6988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01115" y="2976698"/>
            <a:ext cx="6988800" cy="5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accent1"/>
                </a:solidFill>
              </a:defRPr>
            </a:lvl1pPr>
            <a:lvl2pPr lvl="1" algn="r" rtl="0">
              <a:buNone/>
              <a:defRPr sz="1000">
                <a:solidFill>
                  <a:schemeClr val="accent1"/>
                </a:solidFill>
              </a:defRPr>
            </a:lvl2pPr>
            <a:lvl3pPr lvl="2" algn="r" rtl="0">
              <a:buNone/>
              <a:defRPr sz="1000">
                <a:solidFill>
                  <a:schemeClr val="accent1"/>
                </a:solidFill>
              </a:defRPr>
            </a:lvl3pPr>
            <a:lvl4pPr lvl="3" algn="r" rtl="0">
              <a:buNone/>
              <a:defRPr sz="1000">
                <a:solidFill>
                  <a:schemeClr val="accent1"/>
                </a:solidFill>
              </a:defRPr>
            </a:lvl4pPr>
            <a:lvl5pPr lvl="4" algn="r" rtl="0">
              <a:buNone/>
              <a:defRPr sz="1000">
                <a:solidFill>
                  <a:schemeClr val="accent1"/>
                </a:solidFill>
              </a:defRPr>
            </a:lvl5pPr>
            <a:lvl6pPr lvl="5" algn="r" rtl="0">
              <a:buNone/>
              <a:defRPr sz="1000">
                <a:solidFill>
                  <a:schemeClr val="accent1"/>
                </a:solidFill>
              </a:defRPr>
            </a:lvl6pPr>
            <a:lvl7pPr lvl="6" algn="r" rtl="0">
              <a:buNone/>
              <a:defRPr sz="1000">
                <a:solidFill>
                  <a:schemeClr val="accent1"/>
                </a:solidFill>
              </a:defRPr>
            </a:lvl7pPr>
            <a:lvl8pPr lvl="7" algn="r" rtl="0">
              <a:buNone/>
              <a:defRPr sz="1000">
                <a:solidFill>
                  <a:schemeClr val="accent1"/>
                </a:solidFill>
              </a:defRPr>
            </a:lvl8pPr>
            <a:lvl9pPr lvl="8" algn="r" rtl="0">
              <a:buNone/>
              <a:defRPr sz="10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1102400" y="387496"/>
            <a:ext cx="56220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95000"/>
              </a:lnSpc>
            </a:pPr>
            <a:r>
              <a:rPr lang="en-US" sz="1800" dirty="0" err="1">
                <a:solidFill>
                  <a:schemeClr val="accent2"/>
                </a:solidFill>
              </a:rPr>
              <a:t>Cyclistic</a:t>
            </a:r>
            <a:r>
              <a:rPr lang="en-US" sz="1800" dirty="0">
                <a:solidFill>
                  <a:schemeClr val="accent2"/>
                </a:solidFill>
              </a:rPr>
              <a:t> Bike Share Project Executive Summary</a:t>
            </a:r>
            <a:br>
              <a:rPr lang="en-US" sz="1800" dirty="0">
                <a:solidFill>
                  <a:schemeClr val="accent2"/>
                </a:solidFill>
              </a:rPr>
            </a:br>
            <a:endParaRPr sz="1800" b="1" u="sng" dirty="0">
              <a:solidFill>
                <a:schemeClr val="accent2"/>
              </a:solidFill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288469" y="6585876"/>
            <a:ext cx="25872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1" name="Google Shape;231;p38"/>
          <p:cNvCxnSpPr/>
          <p:nvPr/>
        </p:nvCxnSpPr>
        <p:spPr>
          <a:xfrm>
            <a:off x="372000" y="848175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38"/>
          <p:cNvCxnSpPr/>
          <p:nvPr/>
        </p:nvCxnSpPr>
        <p:spPr>
          <a:xfrm>
            <a:off x="399188" y="7137338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8"/>
          <p:cNvCxnSpPr/>
          <p:nvPr/>
        </p:nvCxnSpPr>
        <p:spPr>
          <a:xfrm>
            <a:off x="371988" y="3461413"/>
            <a:ext cx="702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234;p38"/>
          <p:cNvSpPr/>
          <p:nvPr/>
        </p:nvSpPr>
        <p:spPr>
          <a:xfrm>
            <a:off x="399200" y="7236750"/>
            <a:ext cx="1263600" cy="5574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Reflections/ </a:t>
            </a:r>
            <a:endParaRPr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399200" y="1001950"/>
            <a:ext cx="1263600" cy="3189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1860225" y="928450"/>
            <a:ext cx="55401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dirty="0"/>
              <a:t>This project aims to improve understanding of Citi Bike usage in New York City to guide station planning, operational decisions, and marketing strategies.</a:t>
            </a:r>
            <a:endParaRPr sz="13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2193250" y="3680438"/>
            <a:ext cx="54477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399200" y="7759800"/>
            <a:ext cx="70011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dashboard has improved stakeholder understanding of ridership patterns and informs marketing and operational decisions.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Future work includes incorporating real-time data for predictive analytics and optimizing station placement using demand modeling.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project serves as a reference for similar bike-sharing initiatives in other cities.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As data collection and model refinement continue, </a:t>
            </a:r>
            <a:r>
              <a:rPr lang="en-US" sz="1100" dirty="0" err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Cyclistic</a:t>
            </a: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expects to further enhance customer experience, reduce wait times, and increase ridership satisfaction.</a:t>
            </a:r>
          </a:p>
        </p:txBody>
      </p:sp>
      <p:sp>
        <p:nvSpPr>
          <p:cNvPr id="239" name="Google Shape;239;p38"/>
          <p:cNvSpPr/>
          <p:nvPr/>
        </p:nvSpPr>
        <p:spPr>
          <a:xfrm>
            <a:off x="399200" y="3659475"/>
            <a:ext cx="1263600" cy="3189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Details</a:t>
            </a:r>
            <a:endParaRPr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5011000" y="4158425"/>
            <a:ext cx="1637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241" name="Google Shape;241;p38"/>
          <p:cNvSpPr/>
          <p:nvPr/>
        </p:nvSpPr>
        <p:spPr>
          <a:xfrm>
            <a:off x="399200" y="1763950"/>
            <a:ext cx="1263600" cy="3189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1860175" y="1614250"/>
            <a:ext cx="55401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dirty="0" err="1"/>
              <a:t>Cyclistic</a:t>
            </a:r>
            <a:r>
              <a:rPr lang="en-US" sz="1100" dirty="0"/>
              <a:t> needs to better understand ridership patterns to optimize resources and expansion. Key challenges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Identifying high-traffic stations and underserved neighborhoods.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Understanding differences in usage patterns between subscribers and casual riders.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Accounting for external factors like weather that affect ridership.</a:t>
            </a:r>
          </a:p>
        </p:txBody>
      </p:sp>
      <p:sp>
        <p:nvSpPr>
          <p:cNvPr id="243" name="Google Shape;243;p38"/>
          <p:cNvSpPr/>
          <p:nvPr/>
        </p:nvSpPr>
        <p:spPr>
          <a:xfrm>
            <a:off x="399200" y="2749800"/>
            <a:ext cx="1263600" cy="318900"/>
          </a:xfrm>
          <a:prstGeom prst="rect">
            <a:avLst/>
          </a:prstGeom>
          <a:solidFill>
            <a:srgbClr val="00992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Solution</a:t>
            </a:r>
            <a:endParaRPr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1860175" y="2681050"/>
            <a:ext cx="55401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dirty="0"/>
              <a:t>The team aggregated trip data and incorporated weather data. An interactive Tableau dashboard was built to visualize trip trends, station demand, and user behavior, with filters	, enabling stakeholders to explore insights dynamically.</a:t>
            </a:r>
            <a:endParaRPr sz="1100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399175" y="6286950"/>
            <a:ext cx="70284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2"/>
                </a:solidFill>
              </a:rPr>
              <a:t>Results Summary</a:t>
            </a:r>
            <a:endParaRPr sz="12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1100" dirty="0" err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Cyclistic</a:t>
            </a: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dashboard provides insights into bike usage patterns, highlighting high-demand stations, neighborhood trends, and differences between subscribers and casual riders. It also shows how weather impacts ridership.</a:t>
            </a:r>
            <a:endParaRPr sz="1100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/>
          <a:srcRect/>
          <a:stretch/>
        </p:blipFill>
        <p:spPr>
          <a:xfrm>
            <a:off x="3929463" y="3911240"/>
            <a:ext cx="3800475" cy="202070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8"/>
          <p:cNvSpPr txBox="1"/>
          <p:nvPr/>
        </p:nvSpPr>
        <p:spPr>
          <a:xfrm>
            <a:off x="399200" y="4237950"/>
            <a:ext cx="3432600" cy="189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2"/>
                </a:solidFill>
              </a:rPr>
              <a:t>Keys to success</a:t>
            </a:r>
            <a:endParaRPr sz="1200" b="1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Accurate integration of multiple datasets, including trip-level and aggregated data.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Clear and intuitive dashboard design to provide actionable insights for stakeholders.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Interactivity and filtering, allowing stakeholders to explore trends.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oboto"/>
              <a:buChar char="●"/>
            </a:pPr>
            <a:r>
              <a:rPr lang="en-US" sz="11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Data-driven decision making for marketing strategies, station expansion, and operational efficiency.</a:t>
            </a:r>
            <a:endParaRPr sz="1100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4525450" y="5885554"/>
            <a:ext cx="31155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/>
              <a:t>Monthly Trips Trend by User Type</a:t>
            </a:r>
            <a:endParaRPr sz="9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al Master">
  <a:themeElements>
    <a:clrScheme name="Simple Light">
      <a:dk1>
        <a:srgbClr val="212121"/>
      </a:dk1>
      <a:lt1>
        <a:srgbClr val="FFFFFF"/>
      </a:lt1>
      <a:dk2>
        <a:srgbClr val="757575"/>
      </a:dk2>
      <a:lt2>
        <a:srgbClr val="EEEEEE"/>
      </a:lt2>
      <a:accent1>
        <a:srgbClr val="595959"/>
      </a:accent1>
      <a:accent2>
        <a:srgbClr val="000000"/>
      </a:accent2>
      <a:accent3>
        <a:srgbClr val="78909C"/>
      </a:accent3>
      <a:accent4>
        <a:srgbClr val="FF49E8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Roboto</vt:lpstr>
      <vt:lpstr>Open Sans</vt:lpstr>
      <vt:lpstr>Helvetica Neue</vt:lpstr>
      <vt:lpstr>Global Master</vt:lpstr>
      <vt:lpstr>Cyclistic Bike Share Project Executive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Sameer Ahmed</cp:lastModifiedBy>
  <cp:revision>1</cp:revision>
  <dcterms:modified xsi:type="dcterms:W3CDTF">2025-11-28T12:13:33Z</dcterms:modified>
</cp:coreProperties>
</file>